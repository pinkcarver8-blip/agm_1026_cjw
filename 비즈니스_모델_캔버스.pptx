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메모를 클릭해 내용을 입력하세요. 메모를 복제(Ctrl+D)해 개수를 늘릴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이드바"/>
          <p:cNvSpPr/>
          <p:nvPr/>
        </p:nvSpPr>
        <p:spPr>
          <a:xfrm>
            <a:off x="274320" y="274320"/>
            <a:ext cx="2743200" cy="6309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743200" cy="109728"/>
          </a:xfrm>
          <a:prstGeom prst="rect">
            <a:avLst/>
          </a:prstGeom>
          <a:solidFill>
            <a:srgbClr val="F8735A"/>
          </a:solidFill>
          <a:ln w="12700">
            <a:solidFill>
              <a:srgbClr val="F87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66928"/>
            <a:ext cx="384048" cy="384048"/>
          </a:xfrm>
          <a:prstGeom prst="ellipse">
            <a:avLst/>
          </a:prstGeom>
          <a:solidFill>
            <a:srgbClr val="F8735A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66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</a:rPr>
              <a:t>비즈니스 모델 캔버스</a:t>
            </a:r>
            <a:endParaRPr lang="en-US" sz="1700" dirty="0"/>
          </a:p>
        </p:txBody>
      </p:sp>
      <p:sp>
        <p:nvSpPr>
          <p:cNvPr id="6" name="설명"/>
          <p:cNvSpPr txBox="1"/>
          <p:nvPr/>
        </p:nvSpPr>
        <p:spPr>
          <a:xfrm>
            <a:off x="457200" y="1143000"/>
            <a:ext cx="2377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비즈니스 모델 캔버스란?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A808A"/>
                </a:solidFill>
              </a:rPr>
              <a:t>회사가 어떻게 가치를 만들고, 전달하고, 수익을 얻는지를 한 장에 정리하는 도구입니다. 9개 블록을 채우며 사업 구조를 한눈에 봅니다.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채우는 순서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A808A"/>
                </a:solidFill>
              </a:rPr>
              <a:t>① 대상 고객 → ② 가치 제안 → ③ 판매 채널 → ④ 고객 관계 → ⑤ 수익 구조 → ⑥ 핵심 자원 → ⑦ 핵심 활동 → ⑧ 핵심 파트너 → ⑨ 비용 구조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사용 방법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A808A"/>
                </a:solidFill>
              </a:rPr>
              <a:t>각 블록의 빈 메모를 클릭해 내용을 입력하세요. 메모가 더 필요하면 Ctrl+D로 복제해 옮기면 됩니다. 메모 하나에는 한 가지 내용만 적습니다.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257800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532180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메모 색 구분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파랑 인프라 · 분홍 가치 · 초록 고객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보라 비용 · 노랑 수익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5532120"/>
            <a:ext cx="201168" cy="201168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40864" y="5532120"/>
            <a:ext cx="201168" cy="201168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5532120"/>
            <a:ext cx="201168" cy="201168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5824728"/>
            <a:ext cx="201168" cy="201168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40864" y="5824728"/>
            <a:ext cx="201168" cy="201168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74320"/>
            <a:ext cx="8759952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74320"/>
            <a:ext cx="8759952" cy="731520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6" name="캔버스 제목"/>
          <p:cNvSpPr txBox="1"/>
          <p:nvPr/>
        </p:nvSpPr>
        <p:spPr>
          <a:xfrm>
            <a:off x="3154680" y="274320"/>
            <a:ext cx="8759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6"/>
                </a:solidFill>
              </a:rPr>
              <a:t>우리 비즈니스 (제목을 입력하세요)</a:t>
            </a:r>
            <a:endParaRPr lang="en-US" sz="2400" dirty="0"/>
          </a:p>
        </p:txBody>
      </p:sp>
      <p:sp>
        <p:nvSpPr>
          <p:cNvPr id="17" name="핵심 파트너 영역"/>
          <p:cNvSpPr/>
          <p:nvPr/>
        </p:nvSpPr>
        <p:spPr>
          <a:xfrm>
            <a:off x="3246120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1243584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19272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파트너</a:t>
            </a:r>
            <a:endParaRPr lang="en-US" sz="1100" dirty="0"/>
          </a:p>
        </p:txBody>
      </p:sp>
      <p:sp>
        <p:nvSpPr>
          <p:cNvPr id="22" name="핵심 파트너 질문"/>
          <p:cNvSpPr txBox="1"/>
          <p:nvPr/>
        </p:nvSpPr>
        <p:spPr>
          <a:xfrm>
            <a:off x="3337560" y="1554480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누구와 협력해야 하나요? 공급업체, 제휴사는?</a:t>
            </a:r>
            <a:endParaRPr lang="en-US" sz="800" dirty="0"/>
          </a:p>
        </p:txBody>
      </p:sp>
      <p:sp>
        <p:nvSpPr>
          <p:cNvPr id="23" name="핵심 파트너 메모 1"/>
          <p:cNvSpPr/>
          <p:nvPr/>
        </p:nvSpPr>
        <p:spPr>
          <a:xfrm>
            <a:off x="3355848" y="201168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핵심 파트너 메모 2"/>
          <p:cNvSpPr/>
          <p:nvPr/>
        </p:nvSpPr>
        <p:spPr>
          <a:xfrm>
            <a:off x="3849624" y="2743200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핵심 파트너 메모 3"/>
          <p:cNvSpPr/>
          <p:nvPr/>
        </p:nvSpPr>
        <p:spPr>
          <a:xfrm>
            <a:off x="3410712" y="352044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" name="핵심 활동 영역"/>
          <p:cNvSpPr/>
          <p:nvPr/>
        </p:nvSpPr>
        <p:spPr>
          <a:xfrm>
            <a:off x="4967021" y="1188720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7021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0173" y="1243584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40173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314493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활동</a:t>
            </a:r>
            <a:endParaRPr lang="en-US" sz="1100" dirty="0"/>
          </a:p>
        </p:txBody>
      </p:sp>
      <p:sp>
        <p:nvSpPr>
          <p:cNvPr id="31" name="핵심 활동 질문"/>
          <p:cNvSpPr txBox="1"/>
          <p:nvPr/>
        </p:nvSpPr>
        <p:spPr>
          <a:xfrm>
            <a:off x="5058461" y="1554480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가치 제안을 위해 꼭 해야 하는 일은?</a:t>
            </a:r>
            <a:endParaRPr lang="en-US" sz="800" dirty="0"/>
          </a:p>
        </p:txBody>
      </p:sp>
      <p:sp>
        <p:nvSpPr>
          <p:cNvPr id="32" name="핵심 활동 메모 1"/>
          <p:cNvSpPr/>
          <p:nvPr/>
        </p:nvSpPr>
        <p:spPr>
          <a:xfrm>
            <a:off x="5058461" y="196596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3" name="핵심 활동 메모 2"/>
          <p:cNvSpPr/>
          <p:nvPr/>
        </p:nvSpPr>
        <p:spPr>
          <a:xfrm>
            <a:off x="5607101" y="2075688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4" name="핵심 자원 영역"/>
          <p:cNvSpPr/>
          <p:nvPr/>
        </p:nvSpPr>
        <p:spPr>
          <a:xfrm>
            <a:off x="4967021" y="3008376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7021" y="3008376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0173" y="3063240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40173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314493" y="3008376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자원</a:t>
            </a:r>
            <a:endParaRPr lang="en-US" sz="1100" dirty="0"/>
          </a:p>
        </p:txBody>
      </p:sp>
      <p:sp>
        <p:nvSpPr>
          <p:cNvPr id="39" name="핵심 자원 질문"/>
          <p:cNvSpPr txBox="1"/>
          <p:nvPr/>
        </p:nvSpPr>
        <p:spPr>
          <a:xfrm>
            <a:off x="5058461" y="3374136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필요한 사람·자산·기술·자금은?</a:t>
            </a:r>
            <a:endParaRPr lang="en-US" sz="800" dirty="0"/>
          </a:p>
        </p:txBody>
      </p:sp>
      <p:sp>
        <p:nvSpPr>
          <p:cNvPr id="40" name="핵심 자원 메모 1"/>
          <p:cNvSpPr/>
          <p:nvPr/>
        </p:nvSpPr>
        <p:spPr>
          <a:xfrm>
            <a:off x="5058461" y="3785616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1" name="핵심 자원 메모 2"/>
          <p:cNvSpPr/>
          <p:nvPr/>
        </p:nvSpPr>
        <p:spPr>
          <a:xfrm>
            <a:off x="5607101" y="3895344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2" name="가치 제안 영역"/>
          <p:cNvSpPr/>
          <p:nvPr/>
        </p:nvSpPr>
        <p:spPr>
          <a:xfrm>
            <a:off x="6687922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87922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1074" y="1243584"/>
            <a:ext cx="219456" cy="219456"/>
          </a:xfrm>
          <a:prstGeom prst="ellipse">
            <a:avLst/>
          </a:prstGeom>
          <a:solidFill>
            <a:srgbClr val="FFA39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61074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035394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가치 제안</a:t>
            </a:r>
            <a:endParaRPr lang="en-US" sz="1100" dirty="0"/>
          </a:p>
        </p:txBody>
      </p:sp>
      <p:sp>
        <p:nvSpPr>
          <p:cNvPr id="47" name="가치 제안 질문"/>
          <p:cNvSpPr txBox="1"/>
          <p:nvPr/>
        </p:nvSpPr>
        <p:spPr>
          <a:xfrm>
            <a:off x="6779362" y="1554480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고객의 어떤 문제를 풀고, 어떤 가치를 주나요?</a:t>
            </a:r>
            <a:endParaRPr lang="en-US" sz="800" dirty="0"/>
          </a:p>
        </p:txBody>
      </p:sp>
      <p:sp>
        <p:nvSpPr>
          <p:cNvPr id="48" name="가치 제안 메모 1"/>
          <p:cNvSpPr/>
          <p:nvPr/>
        </p:nvSpPr>
        <p:spPr>
          <a:xfrm>
            <a:off x="6797650" y="2011680"/>
            <a:ext cx="804672" cy="804672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9" name="가치 제안 메모 2"/>
          <p:cNvSpPr/>
          <p:nvPr/>
        </p:nvSpPr>
        <p:spPr>
          <a:xfrm>
            <a:off x="7291426" y="2743200"/>
            <a:ext cx="804672" cy="804672"/>
          </a:xfrm>
          <a:prstGeom prst="rect">
            <a:avLst/>
          </a:prstGeom>
          <a:solidFill>
            <a:srgbClr val="FFD3CB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0" name="가치 제안 메모 3"/>
          <p:cNvSpPr/>
          <p:nvPr/>
        </p:nvSpPr>
        <p:spPr>
          <a:xfrm>
            <a:off x="6852514" y="3520440"/>
            <a:ext cx="804672" cy="804672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1" name="고객 관계 영역"/>
          <p:cNvSpPr/>
          <p:nvPr/>
        </p:nvSpPr>
        <p:spPr>
          <a:xfrm>
            <a:off x="8408822" y="1188720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08822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81974" y="1243584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481974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756294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고객 관계</a:t>
            </a:r>
            <a:endParaRPr lang="en-US" sz="1100" dirty="0"/>
          </a:p>
        </p:txBody>
      </p:sp>
      <p:sp>
        <p:nvSpPr>
          <p:cNvPr id="56" name="고객 관계 질문"/>
          <p:cNvSpPr txBox="1"/>
          <p:nvPr/>
        </p:nvSpPr>
        <p:spPr>
          <a:xfrm>
            <a:off x="8500262" y="1554480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고객과 어떤 관계를 맺고 유지하나요?</a:t>
            </a:r>
            <a:endParaRPr lang="en-US" sz="800" dirty="0"/>
          </a:p>
        </p:txBody>
      </p:sp>
      <p:sp>
        <p:nvSpPr>
          <p:cNvPr id="57" name="고객 관계 메모 1"/>
          <p:cNvSpPr/>
          <p:nvPr/>
        </p:nvSpPr>
        <p:spPr>
          <a:xfrm>
            <a:off x="8500262" y="196596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8" name="고객 관계 메모 2"/>
          <p:cNvSpPr/>
          <p:nvPr/>
        </p:nvSpPr>
        <p:spPr>
          <a:xfrm>
            <a:off x="9048902" y="2075688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9" name="판매 채널 영역"/>
          <p:cNvSpPr/>
          <p:nvPr/>
        </p:nvSpPr>
        <p:spPr>
          <a:xfrm>
            <a:off x="8408822" y="3008376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08822" y="3008376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81974" y="3063240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481974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756294" y="3008376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판매 채널</a:t>
            </a:r>
            <a:endParaRPr lang="en-US" sz="1100" dirty="0"/>
          </a:p>
        </p:txBody>
      </p:sp>
      <p:sp>
        <p:nvSpPr>
          <p:cNvPr id="64" name="판매 채널 질문"/>
          <p:cNvSpPr txBox="1"/>
          <p:nvPr/>
        </p:nvSpPr>
        <p:spPr>
          <a:xfrm>
            <a:off x="8500262" y="3374136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고객에게 어떻게 알리고 전달하나요?</a:t>
            </a:r>
            <a:endParaRPr lang="en-US" sz="800" dirty="0"/>
          </a:p>
        </p:txBody>
      </p:sp>
      <p:sp>
        <p:nvSpPr>
          <p:cNvPr id="65" name="판매 채널 메모 1"/>
          <p:cNvSpPr/>
          <p:nvPr/>
        </p:nvSpPr>
        <p:spPr>
          <a:xfrm>
            <a:off x="8500262" y="3785616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6" name="판매 채널 메모 2"/>
          <p:cNvSpPr/>
          <p:nvPr/>
        </p:nvSpPr>
        <p:spPr>
          <a:xfrm>
            <a:off x="9048902" y="3895344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7" name="대상 고객 영역"/>
          <p:cNvSpPr/>
          <p:nvPr/>
        </p:nvSpPr>
        <p:spPr>
          <a:xfrm>
            <a:off x="10129723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29723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02875" y="1243584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202875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1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10477195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대상 고객</a:t>
            </a:r>
            <a:endParaRPr lang="en-US" sz="1100" dirty="0"/>
          </a:p>
        </p:txBody>
      </p:sp>
      <p:sp>
        <p:nvSpPr>
          <p:cNvPr id="72" name="대상 고객 질문"/>
          <p:cNvSpPr txBox="1"/>
          <p:nvPr/>
        </p:nvSpPr>
        <p:spPr>
          <a:xfrm>
            <a:off x="10221163" y="1554480"/>
            <a:ext cx="1464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누구를 위해 가치를 만드나요?</a:t>
            </a:r>
            <a:endParaRPr lang="en-US" sz="800" dirty="0"/>
          </a:p>
        </p:txBody>
      </p:sp>
      <p:sp>
        <p:nvSpPr>
          <p:cNvPr id="73" name="대상 고객 메모 1"/>
          <p:cNvSpPr/>
          <p:nvPr/>
        </p:nvSpPr>
        <p:spPr>
          <a:xfrm>
            <a:off x="10239451" y="201168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4" name="대상 고객 메모 2"/>
          <p:cNvSpPr/>
          <p:nvPr/>
        </p:nvSpPr>
        <p:spPr>
          <a:xfrm>
            <a:off x="10733227" y="2743200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5" name="대상 고객 메모 3"/>
          <p:cNvSpPr/>
          <p:nvPr/>
        </p:nvSpPr>
        <p:spPr>
          <a:xfrm>
            <a:off x="10294315" y="352044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6" name="비용 구조 영역"/>
          <p:cNvSpPr/>
          <p:nvPr/>
        </p:nvSpPr>
        <p:spPr>
          <a:xfrm>
            <a:off x="3246120" y="4828032"/>
            <a:ext cx="42291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46120" y="4828032"/>
            <a:ext cx="4229100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19272" y="4882896"/>
            <a:ext cx="219456" cy="219456"/>
          </a:xfrm>
          <a:prstGeom prst="ellipse">
            <a:avLst/>
          </a:prstGeom>
          <a:solidFill>
            <a:srgbClr val="B38BF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319272" y="4882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9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3593592" y="4828032"/>
            <a:ext cx="3817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비용 구조</a:t>
            </a:r>
            <a:endParaRPr lang="en-US" sz="1100" dirty="0"/>
          </a:p>
        </p:txBody>
      </p:sp>
      <p:sp>
        <p:nvSpPr>
          <p:cNvPr id="81" name="비용 구조 질문"/>
          <p:cNvSpPr txBox="1"/>
          <p:nvPr/>
        </p:nvSpPr>
        <p:spPr>
          <a:xfrm>
            <a:off x="3337560" y="5193792"/>
            <a:ext cx="4046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가장 큰 비용은 무엇인가요? 고정비·변동비는?</a:t>
            </a:r>
            <a:endParaRPr lang="en-US" sz="800" dirty="0"/>
          </a:p>
        </p:txBody>
      </p:sp>
      <p:sp>
        <p:nvSpPr>
          <p:cNvPr id="82" name="비용 구조 메모 1"/>
          <p:cNvSpPr/>
          <p:nvPr/>
        </p:nvSpPr>
        <p:spPr>
          <a:xfrm>
            <a:off x="3429000" y="5513832"/>
            <a:ext cx="804672" cy="804672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3" name="비용 구조 메모 2"/>
          <p:cNvSpPr/>
          <p:nvPr/>
        </p:nvSpPr>
        <p:spPr>
          <a:xfrm>
            <a:off x="4958334" y="5586984"/>
            <a:ext cx="804672" cy="804672"/>
          </a:xfrm>
          <a:prstGeom prst="rect">
            <a:avLst/>
          </a:prstGeom>
          <a:solidFill>
            <a:srgbClr val="E2D2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4" name="비용 구조 메모 3"/>
          <p:cNvSpPr/>
          <p:nvPr/>
        </p:nvSpPr>
        <p:spPr>
          <a:xfrm>
            <a:off x="6487668" y="5513832"/>
            <a:ext cx="804672" cy="804672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5" name="수익 구조 영역"/>
          <p:cNvSpPr/>
          <p:nvPr/>
        </p:nvSpPr>
        <p:spPr>
          <a:xfrm>
            <a:off x="7548372" y="4828032"/>
            <a:ext cx="42291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48372" y="4828032"/>
            <a:ext cx="4229100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21524" y="4882896"/>
            <a:ext cx="219456" cy="219456"/>
          </a:xfrm>
          <a:prstGeom prst="ellipse">
            <a:avLst/>
          </a:prstGeom>
          <a:solidFill>
            <a:srgbClr val="FFE27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7621524" y="4882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5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7895844" y="4828032"/>
            <a:ext cx="3817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수익 구조</a:t>
            </a:r>
            <a:endParaRPr lang="en-US" sz="1100" dirty="0"/>
          </a:p>
        </p:txBody>
      </p:sp>
      <p:sp>
        <p:nvSpPr>
          <p:cNvPr id="90" name="수익 구조 질문"/>
          <p:cNvSpPr txBox="1"/>
          <p:nvPr/>
        </p:nvSpPr>
        <p:spPr>
          <a:xfrm>
            <a:off x="7639812" y="5193792"/>
            <a:ext cx="4046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7A808A"/>
                </a:solidFill>
              </a:rPr>
              <a:t>고객은 무엇에 얼마를 내나요?</a:t>
            </a:r>
            <a:endParaRPr lang="en-US" sz="800" dirty="0"/>
          </a:p>
        </p:txBody>
      </p:sp>
      <p:sp>
        <p:nvSpPr>
          <p:cNvPr id="91" name="수익 구조 메모 1"/>
          <p:cNvSpPr/>
          <p:nvPr/>
        </p:nvSpPr>
        <p:spPr>
          <a:xfrm>
            <a:off x="7731252" y="5513832"/>
            <a:ext cx="804672" cy="804672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2" name="수익 구조 메모 2"/>
          <p:cNvSpPr/>
          <p:nvPr/>
        </p:nvSpPr>
        <p:spPr>
          <a:xfrm>
            <a:off x="9260586" y="5586984"/>
            <a:ext cx="804672" cy="804672"/>
          </a:xfrm>
          <a:prstGeom prst="rect">
            <a:avLst/>
          </a:prstGeom>
          <a:solidFill>
            <a:srgbClr val="FFF3B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3" name="수익 구조 메모 3"/>
          <p:cNvSpPr/>
          <p:nvPr/>
        </p:nvSpPr>
        <p:spPr>
          <a:xfrm>
            <a:off x="10789920" y="5513832"/>
            <a:ext cx="804672" cy="804672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이드바"/>
          <p:cNvSpPr/>
          <p:nvPr/>
        </p:nvSpPr>
        <p:spPr>
          <a:xfrm>
            <a:off x="274320" y="274320"/>
            <a:ext cx="2743200" cy="63093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743200" cy="109728"/>
          </a:xfrm>
          <a:prstGeom prst="rect">
            <a:avLst/>
          </a:prstGeom>
          <a:solidFill>
            <a:srgbClr val="F8735A"/>
          </a:solidFill>
          <a:ln w="12700">
            <a:solidFill>
              <a:srgbClr val="F87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66928"/>
            <a:ext cx="384048" cy="384048"/>
          </a:xfrm>
          <a:prstGeom prst="ellipse">
            <a:avLst/>
          </a:prstGeom>
          <a:solidFill>
            <a:srgbClr val="F8735A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66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</a:rPr>
              <a:t>비즈니스 모델 캔버스</a:t>
            </a:r>
            <a:endParaRPr lang="en-US" sz="1700" dirty="0"/>
          </a:p>
        </p:txBody>
      </p:sp>
      <p:sp>
        <p:nvSpPr>
          <p:cNvPr id="6" name="설명"/>
          <p:cNvSpPr txBox="1"/>
          <p:nvPr/>
        </p:nvSpPr>
        <p:spPr>
          <a:xfrm>
            <a:off x="457200" y="1143000"/>
            <a:ext cx="2377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비즈니스 모델 캔버스란?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A808A"/>
                </a:solidFill>
              </a:rPr>
              <a:t>회사가 어떻게 가치를 만들고, 전달하고, 수익을 얻는지를 한 장에 정리하는 도구입니다. 9개 블록을 채우며 사업 구조를 한눈에 봅니다.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채우는 순서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A808A"/>
                </a:solidFill>
              </a:rPr>
              <a:t>① 대상 고객 → ② 가치 제안 → ③ 판매 채널 → ④ 고객 관계 → ⑤ 수익 구조 → ⑥ 핵심 자원 → ⑦ 핵심 활동 → ⑧ 핵심 파트너 → ⑨ 비용 구조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8735A"/>
                </a:solidFill>
              </a:rPr>
              <a:t>사용 방법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A808A"/>
                </a:solidFill>
              </a:rPr>
              <a:t>각 블록의 빈 메모를 클릭해 내용을 입력하세요. 메모가 더 필요하면 Ctrl+D로 복제해 옮기면 됩니다. 메모 하나에는 한 가지 내용만 적습니다.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257800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532180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메모 색 구분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파랑 인프라 · 분홍 가치 · 초록 고객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7A808A"/>
                </a:solidFill>
              </a:rPr>
              <a:t>보라 비용 · 노랑 수익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5532120"/>
            <a:ext cx="201168" cy="201168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40864" y="5532120"/>
            <a:ext cx="201168" cy="201168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5532120"/>
            <a:ext cx="201168" cy="201168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5824728"/>
            <a:ext cx="201168" cy="201168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40864" y="5824728"/>
            <a:ext cx="201168" cy="201168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74320"/>
            <a:ext cx="8759952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74320"/>
            <a:ext cx="8759952" cy="731520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6" name="캔버스 제목"/>
          <p:cNvSpPr txBox="1"/>
          <p:nvPr/>
        </p:nvSpPr>
        <p:spPr>
          <a:xfrm>
            <a:off x="3154680" y="274320"/>
            <a:ext cx="8759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F36"/>
                </a:solidFill>
              </a:rPr>
              <a:t>예시: 동네 카페</a:t>
            </a:r>
            <a:endParaRPr lang="en-US" sz="2400" dirty="0"/>
          </a:p>
        </p:txBody>
      </p:sp>
      <p:sp>
        <p:nvSpPr>
          <p:cNvPr id="17" name="핵심 파트너 영역"/>
          <p:cNvSpPr/>
          <p:nvPr/>
        </p:nvSpPr>
        <p:spPr>
          <a:xfrm>
            <a:off x="3246120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1243584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19272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파트너</a:t>
            </a:r>
            <a:endParaRPr lang="en-US" sz="1100" dirty="0"/>
          </a:p>
        </p:txBody>
      </p:sp>
      <p:sp>
        <p:nvSpPr>
          <p:cNvPr id="22" name="핵심 파트너 예시 1"/>
          <p:cNvSpPr/>
          <p:nvPr/>
        </p:nvSpPr>
        <p:spPr>
          <a:xfrm>
            <a:off x="3355848" y="178308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원두 공급업체</a:t>
            </a:r>
            <a:endParaRPr lang="en-US" sz="900" dirty="0"/>
          </a:p>
        </p:txBody>
      </p:sp>
      <p:sp>
        <p:nvSpPr>
          <p:cNvPr id="23" name="핵심 파트너 예시 2"/>
          <p:cNvSpPr/>
          <p:nvPr/>
        </p:nvSpPr>
        <p:spPr>
          <a:xfrm>
            <a:off x="3849624" y="2514600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장비 제조업체</a:t>
            </a:r>
            <a:endParaRPr lang="en-US" sz="900" dirty="0"/>
          </a:p>
        </p:txBody>
      </p:sp>
      <p:sp>
        <p:nvSpPr>
          <p:cNvPr id="24" name="핵심 파트너 예시 3"/>
          <p:cNvSpPr/>
          <p:nvPr/>
        </p:nvSpPr>
        <p:spPr>
          <a:xfrm>
            <a:off x="3410712" y="329184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배달 서비스 업체</a:t>
            </a:r>
            <a:endParaRPr lang="en-US" sz="900" dirty="0"/>
          </a:p>
        </p:txBody>
      </p:sp>
      <p:sp>
        <p:nvSpPr>
          <p:cNvPr id="25" name="핵심 활동 영역"/>
          <p:cNvSpPr/>
          <p:nvPr/>
        </p:nvSpPr>
        <p:spPr>
          <a:xfrm>
            <a:off x="4967021" y="1188720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7021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0173" y="1243584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40173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314493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활동</a:t>
            </a:r>
            <a:endParaRPr lang="en-US" sz="1100" dirty="0"/>
          </a:p>
        </p:txBody>
      </p:sp>
      <p:sp>
        <p:nvSpPr>
          <p:cNvPr id="30" name="핵심 활동 예시 1"/>
          <p:cNvSpPr/>
          <p:nvPr/>
        </p:nvSpPr>
        <p:spPr>
          <a:xfrm>
            <a:off x="5058461" y="1645920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로스팅</a:t>
            </a:r>
            <a:endParaRPr lang="en-US" sz="900" dirty="0"/>
          </a:p>
        </p:txBody>
      </p:sp>
      <p:sp>
        <p:nvSpPr>
          <p:cNvPr id="31" name="핵심 활동 예시 2"/>
          <p:cNvSpPr/>
          <p:nvPr/>
        </p:nvSpPr>
        <p:spPr>
          <a:xfrm>
            <a:off x="5607101" y="1755648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메뉴 개발</a:t>
            </a:r>
            <a:endParaRPr lang="en-US" sz="900" dirty="0"/>
          </a:p>
        </p:txBody>
      </p:sp>
      <p:sp>
        <p:nvSpPr>
          <p:cNvPr id="32" name="핵심 자원 영역"/>
          <p:cNvSpPr/>
          <p:nvPr/>
        </p:nvSpPr>
        <p:spPr>
          <a:xfrm>
            <a:off x="4967021" y="3008376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7021" y="3008376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40173" y="3063240"/>
            <a:ext cx="219456" cy="219456"/>
          </a:xfrm>
          <a:prstGeom prst="ellipse">
            <a:avLst/>
          </a:prstGeom>
          <a:solidFill>
            <a:srgbClr val="8FB5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40173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314493" y="3008376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핵심 자원</a:t>
            </a:r>
            <a:endParaRPr lang="en-US" sz="1100" dirty="0"/>
          </a:p>
        </p:txBody>
      </p:sp>
      <p:sp>
        <p:nvSpPr>
          <p:cNvPr id="37" name="핵심 자원 예시 1"/>
          <p:cNvSpPr/>
          <p:nvPr/>
        </p:nvSpPr>
        <p:spPr>
          <a:xfrm>
            <a:off x="5058461" y="3465576"/>
            <a:ext cx="804672" cy="804672"/>
          </a:xfrm>
          <a:prstGeom prst="rect">
            <a:avLst/>
          </a:prstGeom>
          <a:solidFill>
            <a:srgbClr val="8FB5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프리미엄 원두</a:t>
            </a:r>
            <a:endParaRPr lang="en-US" sz="900" dirty="0"/>
          </a:p>
        </p:txBody>
      </p:sp>
      <p:sp>
        <p:nvSpPr>
          <p:cNvPr id="38" name="핵심 자원 예시 2"/>
          <p:cNvSpPr/>
          <p:nvPr/>
        </p:nvSpPr>
        <p:spPr>
          <a:xfrm>
            <a:off x="5607101" y="3575304"/>
            <a:ext cx="804672" cy="804672"/>
          </a:xfrm>
          <a:prstGeom prst="rect">
            <a:avLst/>
          </a:prstGeom>
          <a:solidFill>
            <a:srgbClr val="C7D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바리스타</a:t>
            </a:r>
            <a:endParaRPr lang="en-US" sz="900" dirty="0"/>
          </a:p>
        </p:txBody>
      </p:sp>
      <p:sp>
        <p:nvSpPr>
          <p:cNvPr id="39" name="가치 제안 영역"/>
          <p:cNvSpPr/>
          <p:nvPr/>
        </p:nvSpPr>
        <p:spPr>
          <a:xfrm>
            <a:off x="6687922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87922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1074" y="1243584"/>
            <a:ext cx="219456" cy="219456"/>
          </a:xfrm>
          <a:prstGeom prst="ellipse">
            <a:avLst/>
          </a:prstGeom>
          <a:solidFill>
            <a:srgbClr val="FFA39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61074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2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035394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가치 제안</a:t>
            </a:r>
            <a:endParaRPr lang="en-US" sz="1100" dirty="0"/>
          </a:p>
        </p:txBody>
      </p:sp>
      <p:sp>
        <p:nvSpPr>
          <p:cNvPr id="44" name="가치 제안 예시 1"/>
          <p:cNvSpPr/>
          <p:nvPr/>
        </p:nvSpPr>
        <p:spPr>
          <a:xfrm>
            <a:off x="6797650" y="1783080"/>
            <a:ext cx="804672" cy="804672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고품질 커피</a:t>
            </a:r>
            <a:endParaRPr lang="en-US" sz="900" dirty="0"/>
          </a:p>
        </p:txBody>
      </p:sp>
      <p:sp>
        <p:nvSpPr>
          <p:cNvPr id="45" name="가치 제안 예시 2"/>
          <p:cNvSpPr/>
          <p:nvPr/>
        </p:nvSpPr>
        <p:spPr>
          <a:xfrm>
            <a:off x="7291426" y="2514600"/>
            <a:ext cx="804672" cy="804672"/>
          </a:xfrm>
          <a:prstGeom prst="rect">
            <a:avLst/>
          </a:prstGeom>
          <a:solidFill>
            <a:srgbClr val="FFD3CB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편안한 분위기</a:t>
            </a:r>
            <a:endParaRPr lang="en-US" sz="900" dirty="0"/>
          </a:p>
        </p:txBody>
      </p:sp>
      <p:sp>
        <p:nvSpPr>
          <p:cNvPr id="46" name="가치 제안 예시 3"/>
          <p:cNvSpPr/>
          <p:nvPr/>
        </p:nvSpPr>
        <p:spPr>
          <a:xfrm>
            <a:off x="6852514" y="3291840"/>
            <a:ext cx="804672" cy="804672"/>
          </a:xfrm>
          <a:prstGeom prst="rect">
            <a:avLst/>
          </a:prstGeom>
          <a:solidFill>
            <a:srgbClr val="FFA394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좋은 식사 환경</a:t>
            </a:r>
            <a:endParaRPr lang="en-US" sz="900" dirty="0"/>
          </a:p>
        </p:txBody>
      </p:sp>
      <p:sp>
        <p:nvSpPr>
          <p:cNvPr id="47" name="고객 관계 영역"/>
          <p:cNvSpPr/>
          <p:nvPr/>
        </p:nvSpPr>
        <p:spPr>
          <a:xfrm>
            <a:off x="8408822" y="1188720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08822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81974" y="1243584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81974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756294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고객 관계</a:t>
            </a:r>
            <a:endParaRPr lang="en-US" sz="1100" dirty="0"/>
          </a:p>
        </p:txBody>
      </p:sp>
      <p:sp>
        <p:nvSpPr>
          <p:cNvPr id="52" name="고객 관계 예시 1"/>
          <p:cNvSpPr/>
          <p:nvPr/>
        </p:nvSpPr>
        <p:spPr>
          <a:xfrm>
            <a:off x="8500262" y="164592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개인화된 경험</a:t>
            </a:r>
            <a:endParaRPr lang="en-US" sz="900" dirty="0"/>
          </a:p>
        </p:txBody>
      </p:sp>
      <p:sp>
        <p:nvSpPr>
          <p:cNvPr id="53" name="고객 관계 예시 2"/>
          <p:cNvSpPr/>
          <p:nvPr/>
        </p:nvSpPr>
        <p:spPr>
          <a:xfrm>
            <a:off x="9048902" y="1755648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불만 응대</a:t>
            </a:r>
            <a:endParaRPr lang="en-US" sz="900" dirty="0"/>
          </a:p>
        </p:txBody>
      </p:sp>
      <p:sp>
        <p:nvSpPr>
          <p:cNvPr id="54" name="판매 채널 영역"/>
          <p:cNvSpPr/>
          <p:nvPr/>
        </p:nvSpPr>
        <p:spPr>
          <a:xfrm>
            <a:off x="8408822" y="3008376"/>
            <a:ext cx="1647749" cy="174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08822" y="3008376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81974" y="3063240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481974" y="3063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3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756294" y="3008376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판매 채널</a:t>
            </a:r>
            <a:endParaRPr lang="en-US" sz="1100" dirty="0"/>
          </a:p>
        </p:txBody>
      </p:sp>
      <p:sp>
        <p:nvSpPr>
          <p:cNvPr id="59" name="판매 채널 예시 1"/>
          <p:cNvSpPr/>
          <p:nvPr/>
        </p:nvSpPr>
        <p:spPr>
          <a:xfrm>
            <a:off x="8500262" y="3465576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오프라인 매장</a:t>
            </a:r>
            <a:endParaRPr lang="en-US" sz="900" dirty="0"/>
          </a:p>
        </p:txBody>
      </p:sp>
      <p:sp>
        <p:nvSpPr>
          <p:cNvPr id="60" name="판매 채널 예시 2"/>
          <p:cNvSpPr/>
          <p:nvPr/>
        </p:nvSpPr>
        <p:spPr>
          <a:xfrm>
            <a:off x="9048902" y="3575304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앱·웹사이트</a:t>
            </a:r>
            <a:endParaRPr lang="en-US" sz="900" dirty="0"/>
          </a:p>
        </p:txBody>
      </p:sp>
      <p:sp>
        <p:nvSpPr>
          <p:cNvPr id="61" name="대상 고객 영역"/>
          <p:cNvSpPr/>
          <p:nvPr/>
        </p:nvSpPr>
        <p:spPr>
          <a:xfrm>
            <a:off x="10129723" y="1188720"/>
            <a:ext cx="1647749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29723" y="1188720"/>
            <a:ext cx="1647749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02875" y="1243584"/>
            <a:ext cx="219456" cy="219456"/>
          </a:xfrm>
          <a:prstGeom prst="ellipse">
            <a:avLst/>
          </a:prstGeom>
          <a:solidFill>
            <a:srgbClr val="7FE0A8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202875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1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0477195" y="1188720"/>
            <a:ext cx="1236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대상 고객</a:t>
            </a:r>
            <a:endParaRPr lang="en-US" sz="1100" dirty="0"/>
          </a:p>
        </p:txBody>
      </p:sp>
      <p:sp>
        <p:nvSpPr>
          <p:cNvPr id="66" name="대상 고객 예시 1"/>
          <p:cNvSpPr/>
          <p:nvPr/>
        </p:nvSpPr>
        <p:spPr>
          <a:xfrm>
            <a:off x="10239451" y="178308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직장인</a:t>
            </a:r>
            <a:endParaRPr lang="en-US" sz="900" dirty="0"/>
          </a:p>
        </p:txBody>
      </p:sp>
      <p:sp>
        <p:nvSpPr>
          <p:cNvPr id="67" name="대상 고객 예시 2"/>
          <p:cNvSpPr/>
          <p:nvPr/>
        </p:nvSpPr>
        <p:spPr>
          <a:xfrm>
            <a:off x="10733227" y="2514600"/>
            <a:ext cx="804672" cy="804672"/>
          </a:xfrm>
          <a:prstGeom prst="rect">
            <a:avLst/>
          </a:prstGeom>
          <a:solidFill>
            <a:srgbClr val="C8F3D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청소년</a:t>
            </a:r>
            <a:endParaRPr lang="en-US" sz="900" dirty="0"/>
          </a:p>
        </p:txBody>
      </p:sp>
      <p:sp>
        <p:nvSpPr>
          <p:cNvPr id="68" name="대상 고객 예시 3"/>
          <p:cNvSpPr/>
          <p:nvPr/>
        </p:nvSpPr>
        <p:spPr>
          <a:xfrm>
            <a:off x="10294315" y="3291840"/>
            <a:ext cx="804672" cy="804672"/>
          </a:xfrm>
          <a:prstGeom prst="rect">
            <a:avLst/>
          </a:prstGeom>
          <a:solidFill>
            <a:srgbClr val="7FE0A8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커피 애호가</a:t>
            </a:r>
            <a:endParaRPr lang="en-US" sz="900" dirty="0"/>
          </a:p>
        </p:txBody>
      </p:sp>
      <p:sp>
        <p:nvSpPr>
          <p:cNvPr id="69" name="비용 구조 영역"/>
          <p:cNvSpPr/>
          <p:nvPr/>
        </p:nvSpPr>
        <p:spPr>
          <a:xfrm>
            <a:off x="3246120" y="4828032"/>
            <a:ext cx="42291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46120" y="4828032"/>
            <a:ext cx="4229100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19272" y="4882896"/>
            <a:ext cx="219456" cy="219456"/>
          </a:xfrm>
          <a:prstGeom prst="ellipse">
            <a:avLst/>
          </a:prstGeom>
          <a:solidFill>
            <a:srgbClr val="B38B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3319272" y="4882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9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3593592" y="4828032"/>
            <a:ext cx="3817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비용 구조</a:t>
            </a:r>
            <a:endParaRPr lang="en-US" sz="1100" dirty="0"/>
          </a:p>
        </p:txBody>
      </p:sp>
      <p:sp>
        <p:nvSpPr>
          <p:cNvPr id="74" name="비용 구조 예시 1"/>
          <p:cNvSpPr/>
          <p:nvPr/>
        </p:nvSpPr>
        <p:spPr>
          <a:xfrm>
            <a:off x="3429000" y="5285232"/>
            <a:ext cx="804672" cy="804672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인건비</a:t>
            </a:r>
            <a:endParaRPr lang="en-US" sz="900" dirty="0"/>
          </a:p>
        </p:txBody>
      </p:sp>
      <p:sp>
        <p:nvSpPr>
          <p:cNvPr id="75" name="비용 구조 예시 2"/>
          <p:cNvSpPr/>
          <p:nvPr/>
        </p:nvSpPr>
        <p:spPr>
          <a:xfrm>
            <a:off x="4448556" y="5358384"/>
            <a:ext cx="804672" cy="804672"/>
          </a:xfrm>
          <a:prstGeom prst="rect">
            <a:avLst/>
          </a:prstGeom>
          <a:solidFill>
            <a:srgbClr val="E2D2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임대료</a:t>
            </a:r>
            <a:endParaRPr lang="en-US" sz="900" dirty="0"/>
          </a:p>
        </p:txBody>
      </p:sp>
      <p:sp>
        <p:nvSpPr>
          <p:cNvPr id="76" name="비용 구조 예시 3"/>
          <p:cNvSpPr/>
          <p:nvPr/>
        </p:nvSpPr>
        <p:spPr>
          <a:xfrm>
            <a:off x="5468112" y="5285232"/>
            <a:ext cx="804672" cy="804672"/>
          </a:xfrm>
          <a:prstGeom prst="rect">
            <a:avLst/>
          </a:prstGeom>
          <a:solidFill>
            <a:srgbClr val="B38B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원두 구입비</a:t>
            </a:r>
            <a:endParaRPr lang="en-US" sz="900" dirty="0"/>
          </a:p>
        </p:txBody>
      </p:sp>
      <p:sp>
        <p:nvSpPr>
          <p:cNvPr id="77" name="비용 구조 예시 4"/>
          <p:cNvSpPr/>
          <p:nvPr/>
        </p:nvSpPr>
        <p:spPr>
          <a:xfrm>
            <a:off x="6487668" y="5358384"/>
            <a:ext cx="804672" cy="804672"/>
          </a:xfrm>
          <a:prstGeom prst="rect">
            <a:avLst/>
          </a:prstGeom>
          <a:solidFill>
            <a:srgbClr val="E2D2F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마케팅비</a:t>
            </a:r>
            <a:endParaRPr lang="en-US" sz="900" dirty="0"/>
          </a:p>
        </p:txBody>
      </p:sp>
      <p:sp>
        <p:nvSpPr>
          <p:cNvPr id="78" name="수익 구조 영역"/>
          <p:cNvSpPr/>
          <p:nvPr/>
        </p:nvSpPr>
        <p:spPr>
          <a:xfrm>
            <a:off x="7548372" y="4828032"/>
            <a:ext cx="42291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48372" y="4828032"/>
            <a:ext cx="4229100" cy="329184"/>
          </a:xfrm>
          <a:prstGeom prst="rect">
            <a:avLst/>
          </a:prstGeom>
          <a:solidFill>
            <a:srgbClr val="E4E6EA"/>
          </a:solidFill>
          <a:ln w="9525">
            <a:solidFill>
              <a:srgbClr val="D5D8D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21524" y="4882896"/>
            <a:ext cx="219456" cy="219456"/>
          </a:xfrm>
          <a:prstGeom prst="ellipse">
            <a:avLst/>
          </a:prstGeom>
          <a:solidFill>
            <a:srgbClr val="FFE27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621524" y="4882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5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7895844" y="4828032"/>
            <a:ext cx="3817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6"/>
                </a:solidFill>
              </a:rPr>
              <a:t>수익 구조</a:t>
            </a:r>
            <a:endParaRPr lang="en-US" sz="1100" dirty="0"/>
          </a:p>
        </p:txBody>
      </p:sp>
      <p:sp>
        <p:nvSpPr>
          <p:cNvPr id="83" name="수익 구조 예시 1"/>
          <p:cNvSpPr/>
          <p:nvPr/>
        </p:nvSpPr>
        <p:spPr>
          <a:xfrm>
            <a:off x="7731252" y="5285232"/>
            <a:ext cx="804672" cy="804672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음료·식품 판매</a:t>
            </a:r>
            <a:endParaRPr lang="en-US" sz="900" dirty="0"/>
          </a:p>
        </p:txBody>
      </p:sp>
      <p:sp>
        <p:nvSpPr>
          <p:cNvPr id="84" name="수익 구조 예시 2"/>
          <p:cNvSpPr/>
          <p:nvPr/>
        </p:nvSpPr>
        <p:spPr>
          <a:xfrm>
            <a:off x="9260586" y="5358384"/>
            <a:ext cx="804672" cy="804672"/>
          </a:xfrm>
          <a:prstGeom prst="rect">
            <a:avLst/>
          </a:prstGeom>
          <a:solidFill>
            <a:srgbClr val="FFF3BF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구독</a:t>
            </a:r>
            <a:endParaRPr lang="en-US" sz="900" dirty="0"/>
          </a:p>
        </p:txBody>
      </p:sp>
      <p:sp>
        <p:nvSpPr>
          <p:cNvPr id="85" name="수익 구조 예시 3"/>
          <p:cNvSpPr/>
          <p:nvPr/>
        </p:nvSpPr>
        <p:spPr>
          <a:xfrm>
            <a:off x="10789920" y="5285232"/>
            <a:ext cx="804672" cy="804672"/>
          </a:xfrm>
          <a:prstGeom prst="rect">
            <a:avLst/>
          </a:prstGeom>
          <a:solidFill>
            <a:srgbClr val="FFE27A"/>
          </a:solidFill>
          <a:ln/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F36"/>
                </a:solidFill>
              </a:rPr>
              <a:t>기프트 카드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모델 캔버스</dc:title>
  <dc:subject>PptxGenJS Presentation</dc:subject>
  <dc:creator>PptxGenJS</dc:creator>
  <cp:lastModifiedBy>PptxGenJS</cp:lastModifiedBy>
  <cp:revision>1</cp:revision>
  <dcterms:created xsi:type="dcterms:W3CDTF">2026-10-26T02:23:19Z</dcterms:created>
  <dcterms:modified xsi:type="dcterms:W3CDTF">2026-10-26T02:23:19Z</dcterms:modified>
</cp:coreProperties>
</file>